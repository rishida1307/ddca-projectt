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7D7A22-2C4D-41F3-8B83-52E725EC2BF3}" v="4" dt="2026-10-15T03:29:23.0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ida1307@gmail.com" userId="f9bce3325b4e01b1" providerId="LiveId" clId="{29050451-1A8B-4C91-A48F-3FB4F1DD3CA0}"/>
    <pc:docChg chg="custSel modSld modShowInfo">
      <pc:chgData name="rishida1307@gmail.com" userId="f9bce3325b4e01b1" providerId="LiveId" clId="{29050451-1A8B-4C91-A48F-3FB4F1DD3CA0}" dt="2026-10-15T03:43:12.100" v="108" actId="2744"/>
      <pc:docMkLst>
        <pc:docMk/>
      </pc:docMkLst>
      <pc:sldChg chg="addSp delSp modSp mod">
        <pc:chgData name="rishida1307@gmail.com" userId="f9bce3325b4e01b1" providerId="LiveId" clId="{29050451-1A8B-4C91-A48F-3FB4F1DD3CA0}" dt="2026-10-15T03:39:38.070" v="107" actId="478"/>
        <pc:sldMkLst>
          <pc:docMk/>
          <pc:sldMk cId="0" sldId="256"/>
        </pc:sldMkLst>
        <pc:spChg chg="del">
          <ac:chgData name="rishida1307@gmail.com" userId="f9bce3325b4e01b1" providerId="LiveId" clId="{29050451-1A8B-4C91-A48F-3FB4F1DD3CA0}" dt="2026-10-15T03:39:25.548" v="104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rishida1307@gmail.com" userId="f9bce3325b4e01b1" providerId="LiveId" clId="{29050451-1A8B-4C91-A48F-3FB4F1DD3CA0}" dt="2026-10-15T03:39:28.233" v="105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rishida1307@gmail.com" userId="f9bce3325b4e01b1" providerId="LiveId" clId="{29050451-1A8B-4C91-A48F-3FB4F1DD3CA0}" dt="2026-10-15T03:39:32.443" v="106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rishida1307@gmail.com" userId="f9bce3325b4e01b1" providerId="LiveId" clId="{29050451-1A8B-4C91-A48F-3FB4F1DD3CA0}" dt="2026-10-15T03:39:38.070" v="107" actId="478"/>
          <ac:spMkLst>
            <pc:docMk/>
            <pc:sldMk cId="0" sldId="256"/>
            <ac:spMk id="5" creationId="{00000000-0000-0000-0000-000000000000}"/>
          </ac:spMkLst>
        </pc:spChg>
        <pc:spChg chg="add mod">
          <ac:chgData name="rishida1307@gmail.com" userId="f9bce3325b4e01b1" providerId="LiveId" clId="{29050451-1A8B-4C91-A48F-3FB4F1DD3CA0}" dt="2026-10-15T03:11:55.284" v="13" actId="403"/>
          <ac:spMkLst>
            <pc:docMk/>
            <pc:sldMk cId="0" sldId="256"/>
            <ac:spMk id="11" creationId="{53ED9737-0926-2C26-6282-7EE775670EB1}"/>
          </ac:spMkLst>
        </pc:spChg>
        <pc:spChg chg="add del mod">
          <ac:chgData name="rishida1307@gmail.com" userId="f9bce3325b4e01b1" providerId="LiveId" clId="{29050451-1A8B-4C91-A48F-3FB4F1DD3CA0}" dt="2026-10-15T03:13:17.872" v="44" actId="478"/>
          <ac:spMkLst>
            <pc:docMk/>
            <pc:sldMk cId="0" sldId="256"/>
            <ac:spMk id="12" creationId="{8F4DFFD2-CC88-98BF-EA24-782C1B9C91B1}"/>
          </ac:spMkLst>
        </pc:spChg>
      </pc:sldChg>
      <pc:sldChg chg="addSp delSp modSp mod">
        <pc:chgData name="rishida1307@gmail.com" userId="f9bce3325b4e01b1" providerId="LiveId" clId="{29050451-1A8B-4C91-A48F-3FB4F1DD3CA0}" dt="2026-10-15T03:30:52.166" v="103" actId="255"/>
        <pc:sldMkLst>
          <pc:docMk/>
          <pc:sldMk cId="0" sldId="263"/>
        </pc:sldMkLst>
        <pc:spChg chg="del mod">
          <ac:chgData name="rishida1307@gmail.com" userId="f9bce3325b4e01b1" providerId="LiveId" clId="{29050451-1A8B-4C91-A48F-3FB4F1DD3CA0}" dt="2026-10-15T03:29:16.360" v="73" actId="478"/>
          <ac:spMkLst>
            <pc:docMk/>
            <pc:sldMk cId="0" sldId="263"/>
            <ac:spMk id="2" creationId="{00000000-0000-0000-0000-000000000000}"/>
          </ac:spMkLst>
        </pc:spChg>
        <pc:spChg chg="add del mod">
          <ac:chgData name="rishida1307@gmail.com" userId="f9bce3325b4e01b1" providerId="LiveId" clId="{29050451-1A8B-4C91-A48F-3FB4F1DD3CA0}" dt="2026-10-15T03:29:22.236" v="76"/>
          <ac:spMkLst>
            <pc:docMk/>
            <pc:sldMk cId="0" sldId="263"/>
            <ac:spMk id="8" creationId="{8036617D-276B-7F63-7A4B-EBFED2CC0EC5}"/>
          </ac:spMkLst>
        </pc:spChg>
        <pc:spChg chg="add mod">
          <ac:chgData name="rishida1307@gmail.com" userId="f9bce3325b4e01b1" providerId="LiveId" clId="{29050451-1A8B-4C91-A48F-3FB4F1DD3CA0}" dt="2026-10-15T03:30:52.166" v="103" actId="255"/>
          <ac:spMkLst>
            <pc:docMk/>
            <pc:sldMk cId="0" sldId="263"/>
            <ac:spMk id="9" creationId="{4CC01184-B4CF-9A43-FBB5-89EE6F9A25C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31520" y="822960"/>
            <a:ext cx="6949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27BED2"/>
                </a:solidFill>
                <a:latin typeface="Aptos"/>
              </a:defRPr>
            </a:pPr>
            <a:r>
              <a:rPr dirty="0"/>
              <a:t>DIGITAL LOGIC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046720" cy="1600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4-Bit Magnitude</a:t>
            </a:r>
          </a:p>
          <a:p>
            <a:pPr algn="l">
              <a:spcAft>
                <a:spcPts val="7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Comparator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246120"/>
            <a:ext cx="731520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C6D5ED"/>
                </a:solidFill>
                <a:latin typeface="Aptos"/>
              </a:defRPr>
            </a:pPr>
            <a:r>
              <a:t>Design • Working • Logic equations • Applications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4069080"/>
            <a:ext cx="1143000" cy="64008"/>
          </a:xfrm>
          <a:prstGeom prst="rect">
            <a:avLst/>
          </a:prstGeom>
          <a:solidFill>
            <a:srgbClr val="2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4389120"/>
            <a:ext cx="6583680" cy="7772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Inputs: A3 A2 A1 A0 and B3 B2 B1 B0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Outputs: A&gt;B, A=B, A&lt;B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17C6DB-C9D9-BAF4-00F5-FC114A86E782}"/>
              </a:ext>
            </a:extLst>
          </p:cNvPr>
          <p:cNvSpPr txBox="1"/>
          <p:nvPr/>
        </p:nvSpPr>
        <p:spPr>
          <a:xfrm>
            <a:off x="314632" y="5166360"/>
            <a:ext cx="31069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2620030638-Akshay</a:t>
            </a:r>
          </a:p>
          <a:p>
            <a:r>
              <a:rPr lang="en-IN" dirty="0">
                <a:solidFill>
                  <a:schemeClr val="bg2"/>
                </a:solidFill>
              </a:rPr>
              <a:t>2620030650-Sowrish</a:t>
            </a:r>
          </a:p>
          <a:p>
            <a:r>
              <a:rPr lang="en-IN" dirty="0">
                <a:solidFill>
                  <a:schemeClr val="bg2"/>
                </a:solidFill>
              </a:rPr>
              <a:t>2620030652-Rishida</a:t>
            </a:r>
          </a:p>
          <a:p>
            <a:r>
              <a:rPr lang="en-IN" dirty="0">
                <a:solidFill>
                  <a:schemeClr val="bg2"/>
                </a:solidFill>
              </a:rPr>
              <a:t>2620030663-Harshitha</a:t>
            </a:r>
          </a:p>
          <a:p>
            <a:endParaRPr lang="en-IN" dirty="0">
              <a:solidFill>
                <a:schemeClr val="bg2"/>
              </a:solidFill>
            </a:endParaRP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ED9737-0926-2C26-6282-7EE775670EB1}"/>
              </a:ext>
            </a:extLst>
          </p:cNvPr>
          <p:cNvSpPr txBox="1"/>
          <p:nvPr/>
        </p:nvSpPr>
        <p:spPr>
          <a:xfrm>
            <a:off x="4493342" y="5440680"/>
            <a:ext cx="18463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2"/>
                </a:solidFill>
              </a:rPr>
              <a:t>GROUP-10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0939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1</a:t>
            </a:r>
            <a:r>
              <a:rPr dirty="0"/>
              <a:t>. What is a magnitude comparator?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A0B2C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E91E87-8CC8-D4A2-7FA6-E4F19CB64BC6}"/>
              </a:ext>
            </a:extLst>
          </p:cNvPr>
          <p:cNvSpPr txBox="1"/>
          <p:nvPr/>
        </p:nvSpPr>
        <p:spPr>
          <a:xfrm>
            <a:off x="-32522" y="1366684"/>
            <a:ext cx="105530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A magnitude comparator is a digital electronic circuit that compares two binary numbers and determines which number is greater, which is smaller, or whether they are equal.</a:t>
            </a:r>
          </a:p>
          <a:p>
            <a:endParaRPr lang="en-IN" dirty="0">
              <a:solidFill>
                <a:schemeClr val="bg2"/>
              </a:solidFill>
            </a:endParaRPr>
          </a:p>
          <a:p>
            <a:r>
              <a:rPr lang="en-IN" dirty="0">
                <a:solidFill>
                  <a:schemeClr val="bg2"/>
                </a:solidFill>
              </a:rPr>
              <a:t>For two binary numbers A and  B  produces three outputs: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/>
                </a:solidFill>
              </a:rPr>
              <a:t>A&gt;B: A is greater than B.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/>
                </a:solidFill>
              </a:rPr>
              <a:t>A&lt;B: A is less than B.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/>
                </a:solidFill>
              </a:rPr>
              <a:t>A=B: A is equal to B.</a:t>
            </a:r>
          </a:p>
          <a:p>
            <a:endParaRPr lang="en-IN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B9BC70A-0B12-3499-8C2D-29145A5B8984}"/>
              </a:ext>
            </a:extLst>
          </p:cNvPr>
          <p:cNvSpPr/>
          <p:nvPr/>
        </p:nvSpPr>
        <p:spPr>
          <a:xfrm>
            <a:off x="8900815" y="3576484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B82EBE2-CA87-3CDB-EDF8-7AE622E619ED}"/>
              </a:ext>
            </a:extLst>
          </p:cNvPr>
          <p:cNvSpPr/>
          <p:nvPr/>
        </p:nvSpPr>
        <p:spPr>
          <a:xfrm>
            <a:off x="8443615" y="4392360"/>
            <a:ext cx="914400" cy="9144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4BA9451-2FEC-05B1-0E86-B6B02B107214}"/>
              </a:ext>
            </a:extLst>
          </p:cNvPr>
          <p:cNvSpPr/>
          <p:nvPr/>
        </p:nvSpPr>
        <p:spPr>
          <a:xfrm>
            <a:off x="9358015" y="4353548"/>
            <a:ext cx="914400" cy="914400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B98AF94-56D4-2860-B51F-CCB9D85A6C7F}"/>
              </a:ext>
            </a:extLst>
          </p:cNvPr>
          <p:cNvSpPr txBox="1"/>
          <p:nvPr/>
        </p:nvSpPr>
        <p:spPr>
          <a:xfrm flipH="1">
            <a:off x="184731" y="-2032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668A5C-9E12-45DB-CBFB-97B7C4BFB1EC}"/>
              </a:ext>
            </a:extLst>
          </p:cNvPr>
          <p:cNvSpPr txBox="1"/>
          <p:nvPr/>
        </p:nvSpPr>
        <p:spPr>
          <a:xfrm>
            <a:off x="0" y="-20320"/>
            <a:ext cx="12192000" cy="784830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Where is it used?</a:t>
            </a:r>
          </a:p>
          <a:p>
            <a:pPr lvl="0"/>
            <a:r>
              <a:rPr lang="en-IN" dirty="0">
                <a:solidFill>
                  <a:schemeClr val="bg2"/>
                </a:solidFill>
              </a:rPr>
              <a:t>Comparing numbers in computers</a:t>
            </a:r>
          </a:p>
          <a:p>
            <a:pPr lvl="0"/>
            <a:r>
              <a:rPr lang="en-IN" dirty="0">
                <a:solidFill>
                  <a:schemeClr val="bg2"/>
                </a:solidFill>
              </a:rPr>
              <a:t>Processors and arithmetic circuits</a:t>
            </a:r>
          </a:p>
          <a:p>
            <a:pPr lvl="0"/>
            <a:r>
              <a:rPr lang="en-IN" dirty="0">
                <a:solidFill>
                  <a:schemeClr val="bg2"/>
                </a:solidFill>
              </a:rPr>
              <a:t>Digital control systems</a:t>
            </a:r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r>
              <a:rPr lang="en-IN" dirty="0">
                <a:solidFill>
                  <a:schemeClr val="bg2"/>
                </a:solidFill>
              </a:rPr>
              <a:t>Checking whether a value is above or below a threshold</a:t>
            </a:r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/>
                </a:solidFill>
              </a:rPr>
              <a:t>A magnitude comparator is a digital logic circuit, not the same as a comparator used to compare magnitudes in other mathematical contexts.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>
              <a:solidFill>
                <a:schemeClr val="bg2"/>
              </a:solidFill>
            </a:endParaRPr>
          </a:p>
          <a:p>
            <a:endParaRPr lang="en-IN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F0F74AC-609A-0F9D-190A-AF27B60D33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214497"/>
              </p:ext>
            </p:extLst>
          </p:nvPr>
        </p:nvGraphicFramePr>
        <p:xfrm>
          <a:off x="103451" y="2758599"/>
          <a:ext cx="82296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1147925577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01375188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64829688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403254834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8777175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 &gt;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 &lt;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 =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9914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5747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601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9837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2634422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EA87B1D2-5A85-1258-252A-F92C1C67BEE3}"/>
              </a:ext>
            </a:extLst>
          </p:cNvPr>
          <p:cNvSpPr txBox="1"/>
          <p:nvPr/>
        </p:nvSpPr>
        <p:spPr>
          <a:xfrm>
            <a:off x="-25400" y="1706880"/>
            <a:ext cx="612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bg2"/>
                </a:solidFill>
              </a:rPr>
              <a:t>Truth table for </a:t>
            </a:r>
            <a:r>
              <a:rPr lang="en-IN" b="1" dirty="0" err="1">
                <a:solidFill>
                  <a:schemeClr val="bg2"/>
                </a:solidFill>
              </a:rPr>
              <a:t>comparatora</a:t>
            </a:r>
            <a:r>
              <a:rPr lang="en-IN" b="1" dirty="0">
                <a:solidFill>
                  <a:schemeClr val="bg2"/>
                </a:solidFill>
              </a:rPr>
              <a:t> 1-bit</a:t>
            </a:r>
          </a:p>
        </p:txBody>
      </p:sp>
    </p:spTree>
    <p:extLst>
      <p:ext uri="{BB962C8B-B14F-4D97-AF65-F5344CB8AC3E}">
        <p14:creationId xmlns:p14="http://schemas.microsoft.com/office/powerpoint/2010/main" val="428373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2. Design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BECDE4"/>
                </a:solidFill>
                <a:latin typeface="Aptos"/>
              </a:defRPr>
            </a:pPr>
            <a:r>
              <a:t>The most significant bit (MSB) is checked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A0B2C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123444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27BED2"/>
                </a:solidFill>
                <a:latin typeface="Aptos"/>
              </a:defRPr>
            </a:pPr>
            <a:r>
              <a:t>A₃…A₀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123444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27BED2"/>
                </a:solidFill>
                <a:latin typeface="Aptos"/>
              </a:defRPr>
            </a:pPr>
            <a:r>
              <a:t>B₃…B₀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4519" y="2157984"/>
            <a:ext cx="548641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74519" y="2980944"/>
            <a:ext cx="548641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23160" y="1783080"/>
            <a:ext cx="2880360" cy="1600200"/>
          </a:xfrm>
          <a:prstGeom prst="roundRect">
            <a:avLst/>
          </a:prstGeom>
          <a:solidFill>
            <a:srgbClr val="1B2D4E"/>
          </a:solidFill>
          <a:ln>
            <a:solidFill>
              <a:srgbClr val="27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06040" y="2148840"/>
            <a:ext cx="2514600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7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4-BIT</a:t>
            </a:r>
          </a:p>
          <a:p>
            <a:pPr algn="ctr">
              <a:spcAft>
                <a:spcPts val="7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COMPARATOR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03520" y="2286000"/>
            <a:ext cx="1188720" cy="0"/>
          </a:xfrm>
          <a:prstGeom prst="line">
            <a:avLst/>
          </a:prstGeom>
          <a:ln w="29209">
            <a:solidFill>
              <a:srgbClr val="26A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0" y="2075688"/>
            <a:ext cx="146304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26A06E"/>
                </a:solidFill>
                <a:latin typeface="Aptos"/>
              </a:defRPr>
            </a:pPr>
            <a:r>
              <a:t>A &gt; 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03520" y="2880360"/>
            <a:ext cx="1188720" cy="0"/>
          </a:xfrm>
          <a:prstGeom prst="line">
            <a:avLst/>
          </a:prstGeom>
          <a:ln w="29209">
            <a:solidFill>
              <a:srgbClr val="27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0" y="2670048"/>
            <a:ext cx="146304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27BED2"/>
                </a:solidFill>
                <a:latin typeface="Aptos"/>
              </a:defRPr>
            </a:pPr>
            <a:r>
              <a:t>A = B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03520" y="3474720"/>
            <a:ext cx="1188720" cy="0"/>
          </a:xfrm>
          <a:prstGeom prst="line">
            <a:avLst/>
          </a:prstGeom>
          <a:ln w="29209">
            <a:solidFill>
              <a:srgbClr val="F29D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0" y="3264408"/>
            <a:ext cx="146304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F29D38"/>
                </a:solidFill>
                <a:latin typeface="Aptos"/>
              </a:defRPr>
            </a:pPr>
            <a:r>
              <a:t>A &lt; 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783080"/>
            <a:ext cx="3154680" cy="1600200"/>
          </a:xfrm>
          <a:prstGeom prst="roundRect">
            <a:avLst/>
          </a:prstGeom>
          <a:solidFill>
            <a:srgbClr val="1B2D4E"/>
          </a:solidFill>
          <a:ln>
            <a:solidFill>
              <a:srgbClr val="374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783080"/>
            <a:ext cx="73152" cy="1600200"/>
          </a:xfrm>
          <a:prstGeom prst="rect">
            <a:avLst/>
          </a:prstGeom>
          <a:solidFill>
            <a:srgbClr val="24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30768" y="1947672"/>
            <a:ext cx="278892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2469D2"/>
                </a:solidFill>
                <a:latin typeface="Aptos"/>
              </a:defRPr>
            </a:pPr>
            <a:r>
              <a:t>KEY IDEA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2395728"/>
            <a:ext cx="2788920" cy="868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If the first differing bit is in A, the larger bit decides the result.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43400"/>
            <a:ext cx="104241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Bit priority:  A₃/B₃  →  A₂/B₂  →  A₁/B₁  →  A₀/B₀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074920"/>
            <a:ext cx="1042416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800" b="0">
                <a:solidFill>
                  <a:srgbClr val="BECDE4"/>
                </a:solidFill>
                <a:latin typeface="Aptos"/>
              </a:defRPr>
            </a:pPr>
            <a:r>
              <a:t>If all four bit pairs match, the numbers are equal.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3. Logic equations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BECDE4"/>
                </a:solidFill>
                <a:latin typeface="Aptos"/>
              </a:defRPr>
            </a:pPr>
            <a:r>
              <a:t>Use XNOR to detect equal bit pairs, and AND/OR logic to form the outputs.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A0B2C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394960" cy="1143000"/>
          </a:xfrm>
          <a:prstGeom prst="roundRect">
            <a:avLst/>
          </a:prstGeom>
          <a:solidFill>
            <a:srgbClr val="1B2D4E"/>
          </a:solidFill>
          <a:ln>
            <a:solidFill>
              <a:srgbClr val="374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73152" cy="1143000"/>
          </a:xfrm>
          <a:prstGeom prst="rect">
            <a:avLst/>
          </a:prstGeom>
          <a:solidFill>
            <a:srgbClr val="2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901952"/>
            <a:ext cx="502920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27BED2"/>
                </a:solidFill>
                <a:latin typeface="Aptos"/>
              </a:defRPr>
            </a:pPr>
            <a:r>
              <a:t>BIT EQUALITY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50008"/>
            <a:ext cx="5029200" cy="41147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Eᵢ = Aᵢ XNOR Bᵢ   (Eᵢ = 1 when the bits match)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08960"/>
            <a:ext cx="5394960" cy="2148840"/>
          </a:xfrm>
          <a:prstGeom prst="roundRect">
            <a:avLst/>
          </a:prstGeom>
          <a:solidFill>
            <a:srgbClr val="1B2D4E"/>
          </a:solidFill>
          <a:ln>
            <a:solidFill>
              <a:srgbClr val="374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3108960"/>
            <a:ext cx="73152" cy="2148840"/>
          </a:xfrm>
          <a:prstGeom prst="rect">
            <a:avLst/>
          </a:prstGeom>
          <a:solidFill>
            <a:srgbClr val="26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3273552"/>
            <a:ext cx="502920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26A06E"/>
                </a:solidFill>
                <a:latin typeface="Aptos"/>
              </a:defRPr>
            </a:pPr>
            <a:r>
              <a:t>A =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721608"/>
            <a:ext cx="5029200" cy="1417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EQ = E₃ · E₂ · E₁ · E₀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All four corresponding bits must be equal.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737360"/>
            <a:ext cx="5303520" cy="1600200"/>
          </a:xfrm>
          <a:prstGeom prst="roundRect">
            <a:avLst/>
          </a:prstGeom>
          <a:solidFill>
            <a:srgbClr val="1B2D4E"/>
          </a:solidFill>
          <a:ln>
            <a:solidFill>
              <a:srgbClr val="374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737360"/>
            <a:ext cx="73152" cy="1600200"/>
          </a:xfrm>
          <a:prstGeom prst="rect">
            <a:avLst/>
          </a:prstGeom>
          <a:solidFill>
            <a:srgbClr val="24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7" y="1901952"/>
            <a:ext cx="4937759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2469D2"/>
                </a:solidFill>
                <a:latin typeface="Aptos"/>
              </a:defRPr>
            </a:pPr>
            <a:r>
              <a:t>A &gt;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2350008"/>
            <a:ext cx="4937759" cy="868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GT = (A₃·¬B₃) + (E₃·A₂·¬B₂)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   + (E₃·E₂·A₁·¬B₁)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   + (E₃·E₂·E₁·A₀·¬B₀)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566160"/>
            <a:ext cx="5303520" cy="1691640"/>
          </a:xfrm>
          <a:prstGeom prst="roundRect">
            <a:avLst/>
          </a:prstGeom>
          <a:solidFill>
            <a:srgbClr val="1B2D4E"/>
          </a:solidFill>
          <a:ln>
            <a:solidFill>
              <a:srgbClr val="374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3566160"/>
            <a:ext cx="73152" cy="1691640"/>
          </a:xfrm>
          <a:prstGeom prst="rect">
            <a:avLst/>
          </a:prstGeom>
          <a:solidFill>
            <a:srgbClr val="F29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4807" y="3730752"/>
            <a:ext cx="4937759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F29D38"/>
                </a:solidFill>
                <a:latin typeface="Aptos"/>
              </a:defRPr>
            </a:pPr>
            <a:r>
              <a:t>A &lt;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4178808"/>
            <a:ext cx="4937759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LT = (¬A₃·B₃) + (E₃·¬A₂·B₂)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   + (E₃·E₂·¬A₁·B₁)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   + (E₃·E₂·E₁·¬A₀·B₀)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500" b="0">
                <a:solidFill>
                  <a:srgbClr val="BECDE4"/>
                </a:solidFill>
                <a:latin typeface="Aptos"/>
              </a:defRPr>
            </a:pPr>
            <a:r>
              <a:t>Notation: · = AND, + = OR, ¬ = NOT, XNOR = equality detector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4. How does it work?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BECDE4"/>
                </a:solidFill>
                <a:latin typeface="Aptos"/>
              </a:defRPr>
            </a:pPr>
            <a:r>
              <a:t>The comparison stops logically at the first unequal bit, starting from the MSB.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A0B2C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24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00784"/>
            <a:ext cx="502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0F1C3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27632"/>
            <a:ext cx="384048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Compare A₃ and B₃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1627632"/>
            <a:ext cx="60807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C6D5ED"/>
                </a:solidFill>
                <a:latin typeface="Aptos"/>
              </a:defRPr>
            </a:pPr>
            <a:r>
              <a:t>If different, the MSB decides.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670048"/>
            <a:ext cx="502920" cy="502920"/>
          </a:xfrm>
          <a:prstGeom prst="ellipse">
            <a:avLst/>
          </a:prstGeom>
          <a:solidFill>
            <a:srgbClr val="2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724912"/>
            <a:ext cx="502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0F1C3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651760"/>
            <a:ext cx="384048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If equal, compare A₂ and B₂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651760"/>
            <a:ext cx="60807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C6D5ED"/>
                </a:solidFill>
                <a:latin typeface="Aptos"/>
              </a:defRPr>
            </a:pPr>
            <a:r>
              <a:t>If different, this bit decides.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694176"/>
            <a:ext cx="502920" cy="502920"/>
          </a:xfrm>
          <a:prstGeom prst="ellipse">
            <a:avLst/>
          </a:prstGeom>
          <a:solidFill>
            <a:srgbClr val="26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749039"/>
            <a:ext cx="502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0F1C3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675888"/>
            <a:ext cx="384048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If still equal, compare A₁ then A₀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3675888"/>
            <a:ext cx="60807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C6D5ED"/>
                </a:solidFill>
                <a:latin typeface="Aptos"/>
              </a:defRPr>
            </a:pPr>
            <a:r>
              <a:t>Continue toward the least significant bit.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718304"/>
            <a:ext cx="502920" cy="502920"/>
          </a:xfrm>
          <a:prstGeom prst="ellipse">
            <a:avLst/>
          </a:prstGeom>
          <a:solidFill>
            <a:srgbClr val="F29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773168"/>
            <a:ext cx="502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0F1C3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00016"/>
            <a:ext cx="384048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If every pair matches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4700016"/>
            <a:ext cx="60807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C6D5ED"/>
                </a:solidFill>
                <a:latin typeface="Aptos"/>
              </a:defRPr>
            </a:pPr>
            <a:r>
              <a:t>Set A = B to 1; the other outputs are 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806440"/>
            <a:ext cx="987552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27BED2"/>
                </a:solidFill>
                <a:latin typeface="Aptos"/>
              </a:defRPr>
            </a:pPr>
            <a:r>
              <a:t>Only one output is HIGH (1) for any pair of valid inputs.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5. Example results / truth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BECDE4"/>
                </a:solidFill>
                <a:latin typeface="Aptos"/>
              </a:defRPr>
            </a:pPr>
            <a:r>
              <a:t>A full 4-bit comparator has 256 input combinations; these examples show each output case.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A0B2CD"/>
                </a:solidFill>
                <a:latin typeface="Aptos"/>
              </a:defRPr>
            </a:pPr>
            <a:r>
              <a:t>06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874519"/>
          <a:ext cx="98755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 (binary)</a:t>
                      </a:r>
                    </a:p>
                  </a:txBody>
                  <a:tcPr marL="36576" marR="36576" marB="27432">
                    <a:solidFill>
                      <a:srgbClr val="2469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 (dec.)</a:t>
                      </a:r>
                    </a:p>
                  </a:txBody>
                  <a:tcPr marL="36576" marR="36576" marB="27432">
                    <a:solidFill>
                      <a:srgbClr val="2469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 (binary)</a:t>
                      </a:r>
                    </a:p>
                  </a:txBody>
                  <a:tcPr marL="36576" marR="36576" marB="27432">
                    <a:solidFill>
                      <a:srgbClr val="2469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 (dec.)</a:t>
                      </a:r>
                    </a:p>
                  </a:txBody>
                  <a:tcPr marL="36576" marR="36576" marB="27432">
                    <a:solidFill>
                      <a:srgbClr val="2469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A&gt;B</a:t>
                      </a:r>
                    </a:p>
                  </a:txBody>
                  <a:tcPr marL="36576" marR="36576" marB="27432">
                    <a:solidFill>
                      <a:srgbClr val="2469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A=B</a:t>
                      </a:r>
                    </a:p>
                  </a:txBody>
                  <a:tcPr marL="36576" marR="36576" marB="27432">
                    <a:solidFill>
                      <a:srgbClr val="2469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A&lt;B</a:t>
                      </a:r>
                    </a:p>
                  </a:txBody>
                  <a:tcPr marL="36576" marR="36576" marB="27432">
                    <a:solidFill>
                      <a:srgbClr val="246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1010</a:t>
                      </a:r>
                    </a:p>
                  </a:txBody>
                  <a:tcPr marL="36576" marR="36576" marB="27432">
                    <a:solidFill>
                      <a:srgbClr val="1B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 marL="36576" marR="36576" marB="27432">
                    <a:solidFill>
                      <a:srgbClr val="1B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0111</a:t>
                      </a:r>
                    </a:p>
                  </a:txBody>
                  <a:tcPr marL="36576" marR="36576" marB="27432">
                    <a:solidFill>
                      <a:srgbClr val="1B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marL="36576" marR="36576" marB="27432">
                    <a:solidFill>
                      <a:srgbClr val="1B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B="27432">
                    <a:solidFill>
                      <a:srgbClr val="1B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B="27432">
                    <a:solidFill>
                      <a:srgbClr val="1B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B="27432">
                    <a:solidFill>
                      <a:srgbClr val="1B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0101</a:t>
                      </a:r>
                    </a:p>
                  </a:txBody>
                  <a:tcPr marL="36576" marR="36576" marB="27432">
                    <a:solidFill>
                      <a:srgbClr val="1626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36576" marR="36576" marB="27432">
                    <a:solidFill>
                      <a:srgbClr val="1626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0101</a:t>
                      </a:r>
                    </a:p>
                  </a:txBody>
                  <a:tcPr marL="36576" marR="36576" marB="27432">
                    <a:solidFill>
                      <a:srgbClr val="1626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36576" marR="36576" marB="27432">
                    <a:solidFill>
                      <a:srgbClr val="1626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B="27432">
                    <a:solidFill>
                      <a:srgbClr val="1626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B="27432">
                    <a:solidFill>
                      <a:srgbClr val="1626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B="27432">
                    <a:solidFill>
                      <a:srgbClr val="1626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0011</a:t>
                      </a:r>
                    </a:p>
                  </a:txBody>
                  <a:tcPr marL="36576" marR="36576" marB="27432">
                    <a:solidFill>
                      <a:srgbClr val="1B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36576" marR="36576" marB="27432">
                    <a:solidFill>
                      <a:srgbClr val="1B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1000</a:t>
                      </a:r>
                    </a:p>
                  </a:txBody>
                  <a:tcPr marL="36576" marR="36576" marB="27432">
                    <a:solidFill>
                      <a:srgbClr val="1B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marL="36576" marR="36576" marB="27432">
                    <a:solidFill>
                      <a:srgbClr val="1B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B="27432">
                    <a:solidFill>
                      <a:srgbClr val="1B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B="27432">
                    <a:solidFill>
                      <a:srgbClr val="1B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B="27432">
                    <a:solidFill>
                      <a:srgbClr val="1B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1111</a:t>
                      </a:r>
                    </a:p>
                  </a:txBody>
                  <a:tcPr marL="36576" marR="36576" marB="27432">
                    <a:solidFill>
                      <a:srgbClr val="1626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marL="36576" marR="36576" marB="27432">
                    <a:solidFill>
                      <a:srgbClr val="1626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0000</a:t>
                      </a:r>
                    </a:p>
                  </a:txBody>
                  <a:tcPr marL="36576" marR="36576" marB="27432">
                    <a:solidFill>
                      <a:srgbClr val="1626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B="27432">
                    <a:solidFill>
                      <a:srgbClr val="1626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B="27432">
                    <a:solidFill>
                      <a:srgbClr val="1626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B="27432">
                    <a:solidFill>
                      <a:srgbClr val="1626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B="27432">
                    <a:solidFill>
                      <a:srgbClr val="1626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0000</a:t>
                      </a:r>
                    </a:p>
                  </a:txBody>
                  <a:tcPr marL="36576" marR="36576" marB="27432">
                    <a:solidFill>
                      <a:srgbClr val="1B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B="27432">
                    <a:solidFill>
                      <a:srgbClr val="1B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0000</a:t>
                      </a:r>
                    </a:p>
                  </a:txBody>
                  <a:tcPr marL="36576" marR="36576" marB="27432">
                    <a:solidFill>
                      <a:srgbClr val="1B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B="27432">
                    <a:solidFill>
                      <a:srgbClr val="1B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B="27432">
                    <a:solidFill>
                      <a:srgbClr val="1B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B="27432">
                    <a:solidFill>
                      <a:srgbClr val="1B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B="27432">
                    <a:solidFill>
                      <a:srgbClr val="1B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623560"/>
            <a:ext cx="1033272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27BED2"/>
                </a:solidFill>
                <a:latin typeface="Aptos"/>
              </a:defRPr>
            </a:pPr>
            <a:r>
              <a:t>Remember: 1 = output is true/HIGH; 0 = output is false/LOW.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6.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BECDE4"/>
                </a:solidFill>
                <a:latin typeface="Aptos"/>
              </a:defRPr>
            </a:pPr>
            <a:r>
              <a:t>Magnitude comparators are used whenever digital hardware must compare values.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A0B2C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520440" cy="1508760"/>
          </a:xfrm>
          <a:prstGeom prst="roundRect">
            <a:avLst/>
          </a:prstGeom>
          <a:solidFill>
            <a:srgbClr val="1B2D4E"/>
          </a:solidFill>
          <a:ln>
            <a:solidFill>
              <a:srgbClr val="374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73152" cy="1508760"/>
          </a:xfrm>
          <a:prstGeom prst="rect">
            <a:avLst/>
          </a:prstGeom>
          <a:solidFill>
            <a:srgbClr val="24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856232"/>
            <a:ext cx="315468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2469D2"/>
                </a:solidFill>
                <a:latin typeface="Aptos"/>
              </a:defRPr>
            </a:pPr>
            <a:r>
              <a:t>PROCESSORS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04288"/>
            <a:ext cx="3154680" cy="77723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Compare values in ALUs and support decision instructions.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520440" cy="1508760"/>
          </a:xfrm>
          <a:prstGeom prst="roundRect">
            <a:avLst/>
          </a:prstGeom>
          <a:solidFill>
            <a:srgbClr val="1B2D4E"/>
          </a:solidFill>
          <a:ln>
            <a:solidFill>
              <a:srgbClr val="374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73152" cy="1508760"/>
          </a:xfrm>
          <a:prstGeom prst="rect">
            <a:avLst/>
          </a:prstGeom>
          <a:solidFill>
            <a:srgbClr val="2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856232"/>
            <a:ext cx="315468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27BED2"/>
                </a:solidFill>
                <a:latin typeface="Aptos"/>
              </a:defRPr>
            </a:pPr>
            <a:r>
              <a:t>CONTROL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304288"/>
            <a:ext cx="3154680" cy="77723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Check whether a measured value is above or below a limit.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91640"/>
            <a:ext cx="3520440" cy="1508760"/>
          </a:xfrm>
          <a:prstGeom prst="roundRect">
            <a:avLst/>
          </a:prstGeom>
          <a:solidFill>
            <a:srgbClr val="1B2D4E"/>
          </a:solidFill>
          <a:ln>
            <a:solidFill>
              <a:srgbClr val="374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691640"/>
            <a:ext cx="73152" cy="1508760"/>
          </a:xfrm>
          <a:prstGeom prst="rect">
            <a:avLst/>
          </a:prstGeom>
          <a:solidFill>
            <a:srgbClr val="26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856232"/>
            <a:ext cx="315468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26A06E"/>
                </a:solidFill>
                <a:latin typeface="Aptos"/>
              </a:defRPr>
            </a:pPr>
            <a:r>
              <a:t>ADDRESS CHECKING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04288"/>
            <a:ext cx="3154680" cy="77723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Compare addresses or priority codes in digital circuits.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20440"/>
            <a:ext cx="3520440" cy="1508760"/>
          </a:xfrm>
          <a:prstGeom prst="roundRect">
            <a:avLst/>
          </a:prstGeom>
          <a:solidFill>
            <a:srgbClr val="1B2D4E"/>
          </a:solidFill>
          <a:ln>
            <a:solidFill>
              <a:srgbClr val="374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520440"/>
            <a:ext cx="73152" cy="1508760"/>
          </a:xfrm>
          <a:prstGeom prst="rect">
            <a:avLst/>
          </a:prstGeom>
          <a:solidFill>
            <a:srgbClr val="F29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3685032"/>
            <a:ext cx="315468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F29D38"/>
                </a:solidFill>
                <a:latin typeface="Aptos"/>
              </a:defRPr>
            </a:pPr>
            <a:r>
              <a:t>DIGITAL INSTRUMENTS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133088"/>
            <a:ext cx="3154680" cy="77723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Compare counters, timer values, and sensor readings.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520440"/>
            <a:ext cx="3520440" cy="1508760"/>
          </a:xfrm>
          <a:prstGeom prst="roundRect">
            <a:avLst/>
          </a:prstGeom>
          <a:solidFill>
            <a:srgbClr val="1B2D4E"/>
          </a:solidFill>
          <a:ln>
            <a:solidFill>
              <a:srgbClr val="374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43400" y="3520440"/>
            <a:ext cx="73152" cy="1508760"/>
          </a:xfrm>
          <a:prstGeom prst="rect">
            <a:avLst/>
          </a:prstGeom>
          <a:solidFill>
            <a:srgbClr val="24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44568" y="3685032"/>
            <a:ext cx="315468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2469D2"/>
                </a:solidFill>
                <a:latin typeface="Aptos"/>
              </a:defRPr>
            </a:pPr>
            <a:r>
              <a:t>SORTING / SELECTION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133088"/>
            <a:ext cx="3154680" cy="77723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Choose the larger or smaller number in hardware.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520440"/>
            <a:ext cx="3520440" cy="1508760"/>
          </a:xfrm>
          <a:prstGeom prst="roundRect">
            <a:avLst/>
          </a:prstGeom>
          <a:solidFill>
            <a:srgbClr val="1B2D4E"/>
          </a:solidFill>
          <a:ln>
            <a:solidFill>
              <a:srgbClr val="374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46720" y="3520440"/>
            <a:ext cx="73152" cy="1508760"/>
          </a:xfrm>
          <a:prstGeom prst="rect">
            <a:avLst/>
          </a:prstGeom>
          <a:solidFill>
            <a:srgbClr val="2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47888" y="3685032"/>
            <a:ext cx="315468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27BED2"/>
                </a:solidFill>
                <a:latin typeface="Aptos"/>
              </a:defRPr>
            </a:pPr>
            <a:r>
              <a:t>SECURITY /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133088"/>
            <a:ext cx="3154680" cy="77723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Compare a stored code or numeric ID with an entered value.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715000"/>
            <a:ext cx="1069848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700" b="0">
                <a:solidFill>
                  <a:srgbClr val="BECDE4"/>
                </a:solidFill>
                <a:latin typeface="Aptos"/>
              </a:defRPr>
            </a:pPr>
            <a:r>
              <a:t>A 4-bit comparator is a small building block for larger n-bit comparison circuits.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BECDE4"/>
                </a:solidFill>
                <a:latin typeface="Aptos"/>
              </a:defRPr>
            </a:pPr>
            <a:r>
              <a:t>Key points to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A0B2C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42416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rPr dirty="0"/>
              <a:t>•  Inputs are two 4-bit unsigned binary numbers: A and B.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rPr dirty="0"/>
              <a:t>•  Outputs are A&gt;B, A=B, and A&lt;B.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rPr dirty="0"/>
              <a:t>•  Compare from the most significant bit to the least significant bit.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rPr dirty="0"/>
              <a:t>•  XNOR gates detect matching bit pairs; AND/OR/NOT logic forms the outputs.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rPr dirty="0"/>
              <a:t>•  For any input pair, exactly one output should be HIGH.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23560"/>
            <a:ext cx="107899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3000" b="1">
                <a:solidFill>
                  <a:srgbClr val="27BED2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C01184-B4CF-9A43-FBB5-89EE6F9A25C1}"/>
              </a:ext>
            </a:extLst>
          </p:cNvPr>
          <p:cNvSpPr txBox="1"/>
          <p:nvPr/>
        </p:nvSpPr>
        <p:spPr>
          <a:xfrm>
            <a:off x="540775" y="78658"/>
            <a:ext cx="31353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2"/>
                </a:solidFill>
              </a:rPr>
              <a:t>7.conclusion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889</Words>
  <Application>Microsoft Office PowerPoint</Application>
  <PresentationFormat>Widescreen</PresentationFormat>
  <Paragraphs>188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 rishida</dc:creator>
  <cp:keywords/>
  <dc:description>generated using python-pptx</dc:description>
  <cp:lastModifiedBy>rishida1307@gmail.com</cp:lastModifiedBy>
  <cp:revision>2</cp:revision>
  <dcterms:created xsi:type="dcterms:W3CDTF">2013-01-27T09:14:16Z</dcterms:created>
  <dcterms:modified xsi:type="dcterms:W3CDTF">2026-10-15T03:43:20Z</dcterms:modified>
  <cp:category/>
</cp:coreProperties>
</file>